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3366"/>
                </a:solidFill>
              </a:defRPr>
            </a:pPr>
            <a:r>
              <a:t>AirFly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6666"/>
                </a:solidFill>
              </a:defRPr>
            </a:pPr>
            <a:r>
              <a:t>Comprehensive Flight Delay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336699"/>
                </a:solidFill>
              </a:defRPr>
            </a:pPr>
            <a:r>
              <a:t>Data-Driven Insights from 5.8 Million Flight Records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Comprehensive Analysis of U.S. Aviation Data</a:t>
            </a:r>
          </a:p>
          <a:p>
            <a:pPr lvl="1">
              <a:defRPr sz="1800"/>
            </a:pPr>
            <a:r>
              <a:t>5,819,080 flight records analyzed</a:t>
            </a:r>
          </a:p>
          <a:p>
            <a:pPr lvl="1">
              <a:defRPr sz="1800"/>
            </a:pPr>
            <a:r>
              <a:t>14 major U.S. airline carriers</a:t>
            </a:r>
          </a:p>
          <a:p>
            <a:pPr lvl="1">
              <a:defRPr sz="1800"/>
            </a:pPr>
            <a:r>
              <a:t>300+ airports across the United States</a:t>
            </a:r>
          </a:p>
          <a:p>
            <a:pPr lvl="1">
              <a:defRPr sz="1800"/>
            </a:pPr>
            <a:r>
              <a:t>Full year of operational data (564.96 MB dataset)</a:t>
            </a:r>
          </a:p>
          <a:p>
            <a:pPr lvl="1">
              <a:defRPr sz="1800"/>
            </a:pPr>
            <a:r>
              <a:t>30+ features including delays, cancellations, routes</a:t>
            </a:r>
          </a:p>
          <a:p>
            <a:pPr lvl="1">
              <a:defRPr sz="1800"/>
            </a:pPr>
            <a:r>
              <a:t>Interactive dashboards and 40+ visualizations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&amp;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Advanced Analytics &amp; Visualization</a:t>
            </a:r>
          </a:p>
          <a:p>
            <a:pPr lvl="1">
              <a:defRPr sz="1600"/>
            </a:pPr>
            <a:r>
              <a:t>Exploratory Data Analysis: Comprehensive dataset exploration and quality assessment</a:t>
            </a:r>
          </a:p>
          <a:p>
            <a:pPr lvl="1">
              <a:defRPr sz="1600"/>
            </a:pPr>
            <a:r>
              <a:t>Feature Engineering: Custom features: delay categories, seasons, routes, time-based metrics</a:t>
            </a:r>
          </a:p>
          <a:p>
            <a:pPr lvl="1">
              <a:defRPr sz="1600"/>
            </a:pPr>
            <a:r>
              <a:t>Interactive Dashboard: Streamlit-powered web application with real-time filtering</a:t>
            </a:r>
          </a:p>
          <a:p>
            <a:pPr lvl="1">
              <a:defRPr sz="1600"/>
            </a:pPr>
            <a:r>
              <a:t>Geographic Visualizations: Interactive maps showing traffic patterns and delays</a:t>
            </a:r>
          </a:p>
          <a:p>
            <a:pPr lvl="1">
              <a:defRPr sz="1600"/>
            </a:pPr>
            <a:r>
              <a:t>Statistical Insights: Correlation analysis, trend detection, pattern recognition</a:t>
            </a:r>
          </a:p>
          <a:p>
            <a:pPr lvl="1">
              <a:defRPr sz="1600"/>
            </a:pPr>
            <a:r>
              <a:t>Performance Optimization: Smart sampling and memory optimization for large datasets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>
                <a:solidFill>
                  <a:srgbClr val="003366"/>
                </a:solidFill>
              </a:defRPr>
            </a:pPr>
            <a:r>
              <a:t>Data Processing &amp; Analysis</a:t>
            </a:r>
          </a:p>
          <a:p>
            <a:pPr lvl="1">
              <a:defRPr sz="1600"/>
            </a:pPr>
            <a:r>
              <a:t>Python 3.9+</a:t>
            </a:r>
          </a:p>
          <a:p>
            <a:pPr lvl="1">
              <a:defRPr sz="1600"/>
            </a:pPr>
            <a:r>
              <a:t>Pandas &amp; NumPy</a:t>
            </a:r>
          </a:p>
          <a:p>
            <a:pPr lvl="1">
              <a:defRPr sz="1600"/>
            </a:pPr>
            <a:r>
              <a:t>Jupyter Notebook</a:t>
            </a:r>
          </a:p>
          <a:p>
            <a:br/>
            <a:pPr>
              <a:defRPr sz="2000" b="1">
                <a:solidFill>
                  <a:srgbClr val="003366"/>
                </a:solidFill>
              </a:defRPr>
            </a:pPr>
            <a:r>
              <a:t>Visualization &amp; Dashboard</a:t>
            </a:r>
          </a:p>
          <a:p>
            <a:pPr lvl="1">
              <a:defRPr sz="1600"/>
            </a:pPr>
            <a:r>
              <a:t>Matplotlib &amp; Seaborn</a:t>
            </a:r>
          </a:p>
          <a:p>
            <a:pPr lvl="1">
              <a:defRPr sz="1600"/>
            </a:pPr>
            <a:r>
              <a:t>Plotly (Interactive)</a:t>
            </a:r>
          </a:p>
          <a:p>
            <a:pPr lvl="1">
              <a:defRPr sz="1600"/>
            </a:pPr>
            <a:r>
              <a:t>Streamlit Framework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1">
                <a:solidFill>
                  <a:srgbClr val="003366"/>
                </a:solidFill>
              </a:defRPr>
            </a:pPr>
            <a:r>
              <a:t>1. Data Loading</a:t>
            </a:r>
          </a:p>
          <a:p>
            <a:pPr lvl="1">
              <a:defRPr sz="1400"/>
            </a:pPr>
            <a:r>
              <a:t>Multiple datasets: flights, airlines, airports, weather, holidays</a:t>
            </a: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2. Data Quality Assessment</a:t>
            </a:r>
          </a:p>
          <a:p>
            <a:pPr lvl="1">
              <a:defRPr sz="1400"/>
            </a:pPr>
            <a:r>
              <a:t>Missing value analysis, duplicate detection, outlier identification</a:t>
            </a: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3. Data Preprocessing</a:t>
            </a:r>
          </a:p>
          <a:p>
            <a:pPr lvl="1">
              <a:defRPr sz="1400"/>
            </a:pPr>
            <a:r>
              <a:t>Missing value handling, data type optimization, filtering</a:t>
            </a: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4. Feature Engineering</a:t>
            </a:r>
          </a:p>
          <a:p>
            <a:pPr lvl="1">
              <a:defRPr sz="1400"/>
            </a:pPr>
            <a:r>
              <a:t>Date/time features, route creation, delay categorization, seasons</a:t>
            </a: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5. Memory Optimization</a:t>
            </a:r>
          </a:p>
          <a:p>
            <a:pPr lvl="1">
              <a:defRPr sz="1400"/>
            </a:pPr>
            <a:r>
              <a:t>Dtype optimization reducing dataset size by ~40%</a:t>
            </a: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6. Analysis &amp; Visualization</a:t>
            </a:r>
          </a:p>
          <a:p>
            <a:pPr lvl="1">
              <a:defRPr sz="1400"/>
            </a:pPr>
            <a:r>
              <a:t>Statistical analysis, correlation studies, comprehensive visualizations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 Features Created for Analysis</a:t>
            </a:r>
          </a:p>
          <a:p>
            <a:pPr lvl="1">
              <a:defRPr sz="1600"/>
            </a:pPr>
            <a:r>
              <a:t>YEAR, MONTH, DAY - Date components for temporal analysis</a:t>
            </a:r>
          </a:p>
          <a:p>
            <a:pPr lvl="1">
              <a:defRPr sz="1600"/>
            </a:pPr>
            <a:r>
              <a:t>DAY_OF_WEEK, DAY_NAME - Weekday patterns (0-6, Monday-Sunday)</a:t>
            </a:r>
          </a:p>
          <a:p>
            <a:pPr lvl="1">
              <a:defRPr sz="1600"/>
            </a:pPr>
            <a:r>
              <a:t>DEP_HOUR - Departure hour (0-23) for hourly patterns</a:t>
            </a:r>
          </a:p>
          <a:p>
            <a:pPr lvl="1">
              <a:defRPr sz="1600"/>
            </a:pPr>
            <a:r>
              <a:t>ROUTE - Origin-Destination pair for route analysis</a:t>
            </a:r>
          </a:p>
          <a:p>
            <a:pPr lvl="1">
              <a:defRPr sz="1600"/>
            </a:pPr>
            <a:r>
              <a:t>DELAY_CATEGORY - 5-level classification (On Time to Severe)</a:t>
            </a:r>
          </a:p>
          <a:p>
            <a:pPr lvl="1">
              <a:defRPr sz="1600"/>
            </a:pPr>
            <a:r>
              <a:t>SEASON - Seasonal categorization (Winter, Spring, Summer, Fall)</a:t>
            </a:r>
          </a:p>
          <a:p>
            <a:pPr lvl="1">
              <a:defRPr sz="1600"/>
            </a:pPr>
            <a:r>
              <a:t>TOTAL_DELAY - Aggregate delay metric for comprehensive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Insights: Flight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1">
                <a:solidFill>
                  <a:srgbClr val="0066CC"/>
                </a:solidFill>
              </a:defRPr>
            </a:pPr>
            <a:r>
              <a:t>✈ Peak Travel Period</a:t>
            </a:r>
          </a:p>
          <a:p>
            <a:pPr lvl="1">
              <a:defRPr sz="1500"/>
            </a:pPr>
            <a:r>
              <a:t>Summer months (June-August) show highest volume</a:t>
            </a:r>
          </a:p>
          <a:p>
            <a:pPr>
              <a:defRPr sz="1800" b="1">
                <a:solidFill>
                  <a:srgbClr val="0066CC"/>
                </a:solidFill>
              </a:defRPr>
            </a:pPr>
            <a:r>
              <a:t>✈ Busiest Day</a:t>
            </a:r>
          </a:p>
          <a:p>
            <a:pPr lvl="1">
              <a:defRPr sz="1500"/>
            </a:pPr>
            <a:r>
              <a:t>Friday experiences the highest flight frequency</a:t>
            </a:r>
          </a:p>
          <a:p>
            <a:pPr>
              <a:defRPr sz="1800" b="1">
                <a:solidFill>
                  <a:srgbClr val="0066CC"/>
                </a:solidFill>
              </a:defRPr>
            </a:pPr>
            <a:r>
              <a:t>✈ Peak Hours</a:t>
            </a:r>
          </a:p>
          <a:p>
            <a:pPr lvl="1">
              <a:defRPr sz="1500"/>
            </a:pPr>
            <a:r>
              <a:t>Morning rush: 6:00 AM - 8:00 AM</a:t>
            </a:r>
          </a:p>
          <a:p>
            <a:pPr>
              <a:defRPr sz="1800" b="1">
                <a:solidFill>
                  <a:srgbClr val="0066CC"/>
                </a:solidFill>
              </a:defRPr>
            </a:pPr>
            <a:r>
              <a:t>✈ Route Distribution</a:t>
            </a:r>
          </a:p>
          <a:p>
            <a:pPr lvl="1">
              <a:defRPr sz="1500"/>
            </a:pPr>
            <a:r>
              <a:t>Top routes concentrated in major hub cities</a:t>
            </a:r>
          </a:p>
          <a:p>
            <a:pPr>
              <a:defRPr sz="1800" b="1">
                <a:solidFill>
                  <a:srgbClr val="0066CC"/>
                </a:solidFill>
              </a:defRPr>
            </a:pPr>
            <a:r>
              <a:t>✈ Seasonal Variations</a:t>
            </a:r>
          </a:p>
          <a:p>
            <a:pPr lvl="1">
              <a:defRPr sz="1500"/>
            </a:pPr>
            <a:r>
              <a:t>Significant differences across seasons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Insights: Delay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700" b="1">
                <a:solidFill>
                  <a:srgbClr val="CC3300"/>
                </a:solidFill>
              </a:defRPr>
            </a:pPr>
            <a:r>
              <a:t>📊 Delay Distribution</a:t>
            </a:r>
          </a:p>
          <a:p>
            <a:pPr lvl="1">
              <a:defRPr sz="1400"/>
            </a:pPr>
            <a:r>
              <a:t>Most flights experience minor or no delays</a:t>
            </a:r>
          </a:p>
          <a:p>
            <a:pPr>
              <a:defRPr sz="1700" b="1">
                <a:solidFill>
                  <a:srgbClr val="CC3300"/>
                </a:solidFill>
              </a:defRPr>
            </a:pPr>
            <a:r>
              <a:t>📊 Time-Based Patterns</a:t>
            </a:r>
          </a:p>
          <a:p>
            <a:pPr lvl="1">
              <a:defRPr sz="1400"/>
            </a:pPr>
            <a:r>
              <a:t>Early morning flights show better performance</a:t>
            </a:r>
          </a:p>
          <a:p>
            <a:pPr>
              <a:defRPr sz="1700" b="1">
                <a:solidFill>
                  <a:srgbClr val="CC3300"/>
                </a:solidFill>
              </a:defRPr>
            </a:pPr>
            <a:r>
              <a:t>📊 Seasonal Impact</a:t>
            </a:r>
          </a:p>
          <a:p>
            <a:pPr lvl="1">
              <a:defRPr sz="1400"/>
            </a:pPr>
            <a:r>
              <a:t>Summer delays tend to be higher due to weather</a:t>
            </a:r>
          </a:p>
          <a:p>
            <a:pPr>
              <a:defRPr sz="1700" b="1">
                <a:solidFill>
                  <a:srgbClr val="CC3300"/>
                </a:solidFill>
              </a:defRPr>
            </a:pPr>
            <a:r>
              <a:t>📊 Distance Correlation</a:t>
            </a:r>
          </a:p>
          <a:p>
            <a:pPr lvl="1">
              <a:defRPr sz="1400"/>
            </a:pPr>
            <a:r>
              <a:t>Longer flights show different delay patterns</a:t>
            </a:r>
          </a:p>
          <a:p>
            <a:pPr>
              <a:defRPr sz="1700" b="1">
                <a:solidFill>
                  <a:srgbClr val="CC3300"/>
                </a:solidFill>
              </a:defRPr>
            </a:pPr>
            <a:r>
              <a:t>📊 Airline Performance</a:t>
            </a:r>
          </a:p>
          <a:p>
            <a:pPr lvl="1">
              <a:defRPr sz="1400"/>
            </a:pPr>
            <a:r>
              <a:t>Significant variance across carriers</a:t>
            </a:r>
          </a:p>
          <a:p>
            <a:pPr>
              <a:defRPr sz="1700" b="1">
                <a:solidFill>
                  <a:srgbClr val="CC3300"/>
                </a:solidFill>
              </a:defRPr>
            </a:pPr>
            <a:r>
              <a:t>📊 Airport Efficiency</a:t>
            </a:r>
          </a:p>
          <a:p>
            <a:pPr lvl="1">
              <a:defRPr sz="1400"/>
            </a:pPr>
            <a:r>
              <a:t>Hub airports show distinct delay characteristics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Comprehensive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40+ Charts &amp; Interactive Maps</a:t>
            </a:r>
          </a:p>
          <a:p>
            <a:pPr lvl="1">
              <a:defRPr sz="1500"/>
            </a:pPr>
            <a:r>
              <a:t>Temporal Analysis: Monthly trends, daily patterns, hourly distributions, seasonal variations</a:t>
            </a:r>
          </a:p>
          <a:p>
            <a:pPr lvl="1">
              <a:defRPr sz="1500"/>
            </a:pPr>
            <a:r>
              <a:t>Airport Analysis: Traffic heatmaps, delay patterns, busiest airports, geographic maps</a:t>
            </a:r>
          </a:p>
          <a:p>
            <a:pPr lvl="1">
              <a:defRPr sz="1500"/>
            </a:pPr>
            <a:r>
              <a:t>Airline Performance: Delays by carrier, cancellations, diversions, reliability metrics</a:t>
            </a:r>
          </a:p>
          <a:p>
            <a:pPr lvl="1">
              <a:defRPr sz="1500"/>
            </a:pPr>
            <a:r>
              <a:t>Route Analysis: Top routes, distance analysis, route-specific delays</a:t>
            </a:r>
          </a:p>
          <a:p>
            <a:pPr lvl="1">
              <a:defRPr sz="1500"/>
            </a:pPr>
            <a:r>
              <a:t>Statistical Charts: Distribution plots, correlation heatmaps, box plots, histograms</a:t>
            </a:r>
          </a:p>
          <a:p>
            <a:pPr lvl="1">
              <a:defRPr sz="1500"/>
            </a:pPr>
            <a:r>
              <a:t>Interactive Maps: Airport delay map, route flow visualization, traffic density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Streamlit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Web-Based Analytics Platform</a:t>
            </a:r>
          </a:p>
          <a:p>
            <a:pPr lvl="1">
              <a:defRPr sz="1800"/>
            </a:pPr>
            <a:r>
              <a:t>Real-time filtering by airline, airport, and date range</a:t>
            </a:r>
          </a:p>
          <a:p>
            <a:pPr lvl="1">
              <a:defRPr sz="1800"/>
            </a:pPr>
            <a:r>
              <a:t>Dynamic visualizations updating based on selections</a:t>
            </a:r>
          </a:p>
          <a:p>
            <a:pPr lvl="1">
              <a:defRPr sz="1800"/>
            </a:pPr>
            <a:r>
              <a:t>Multi-page interface: Overview, Airlines, Routes, Temporal</a:t>
            </a:r>
          </a:p>
          <a:p>
            <a:pPr lvl="1">
              <a:defRPr sz="1800"/>
            </a:pPr>
            <a:r>
              <a:t>KPI cards showing key performance indicators</a:t>
            </a:r>
          </a:p>
          <a:p>
            <a:pPr lvl="1">
              <a:defRPr sz="1800"/>
            </a:pPr>
            <a:r>
              <a:t>Export capabilities for charts and data</a:t>
            </a:r>
          </a:p>
          <a:p>
            <a:pPr lvl="1">
              <a:defRPr sz="1800"/>
            </a:pPr>
            <a:r>
              <a:t>Responsive design for various screen sizes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📓 analysis/: Jupyter notebooks and dashboard code</a:t>
            </a:r>
          </a:p>
          <a:p>
            <a:pPr>
              <a:spcAft>
                <a:spcPts val="1000"/>
              </a:spcAft>
              <a:defRPr sz="1800"/>
            </a:pPr>
            <a:r>
              <a:t>📊 dataset/: Flight data, airlines, airports (5.8M records)</a:t>
            </a:r>
          </a:p>
          <a:p>
            <a:pPr>
              <a:spcAft>
                <a:spcPts val="1000"/>
              </a:spcAft>
              <a:defRPr sz="1800"/>
            </a:pPr>
            <a:r>
              <a:t>📚 documentation/: Comprehensive guides and references</a:t>
            </a:r>
          </a:p>
          <a:p>
            <a:pPr>
              <a:spcAft>
                <a:spcPts val="1000"/>
              </a:spcAft>
              <a:defRPr sz="1800"/>
            </a:pPr>
            <a:r>
              <a:t>🗺️ maps/: Interactive HTML visualizations</a:t>
            </a:r>
          </a:p>
          <a:p>
            <a:pPr>
              <a:spcAft>
                <a:spcPts val="1000"/>
              </a:spcAft>
              <a:defRPr sz="1800"/>
            </a:pPr>
            <a:r>
              <a:t>⚙️ configuration/: Requirements and settings</a:t>
            </a:r>
          </a:p>
          <a:p>
            <a:pPr>
              <a:spcAft>
                <a:spcPts val="1000"/>
              </a:spcAft>
              <a:defRPr sz="1800"/>
            </a:pPr>
            <a:r>
              <a:t>🧪 testing/: Test suites and quality assurance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Optimizations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Handling Large-Scale Data Efficiently</a:t>
            </a:r>
          </a:p>
          <a:p>
            <a:pPr lvl="1">
              <a:defRPr sz="1700"/>
            </a:pPr>
            <a:r>
              <a:t>Memory reduction by ~40% through dtype optimization</a:t>
            </a:r>
          </a:p>
          <a:p>
            <a:pPr lvl="1">
              <a:defRPr sz="1700"/>
            </a:pPr>
            <a:r>
              <a:t>Smart sampling (500K from 5.8M) for intensive computations</a:t>
            </a:r>
          </a:p>
          <a:p>
            <a:pPr lvl="1">
              <a:defRPr sz="1700"/>
            </a:pPr>
            <a:r>
              <a:t>Vectorized operations for faster processing</a:t>
            </a:r>
          </a:p>
          <a:p>
            <a:pPr lvl="1">
              <a:defRPr sz="1700"/>
            </a:pPr>
            <a:r>
              <a:t>Efficient groupby operations with optimized aggregations</a:t>
            </a:r>
          </a:p>
          <a:p>
            <a:pPr lvl="1">
              <a:defRPr sz="1700"/>
            </a:pPr>
            <a:r>
              <a:t>Incremental processing for memory-intensive tasks</a:t>
            </a:r>
          </a:p>
          <a:p>
            <a:pPr lvl="1">
              <a:defRPr sz="1700"/>
            </a:pPr>
            <a:r>
              <a:t>Caching strategies for repeated computations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&amp;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700"/>
            </a:pPr>
            <a:r>
              <a:t>🎓 Education: Learning data science, visualization, and feature engineering</a:t>
            </a:r>
          </a:p>
          <a:p>
            <a:pPr>
              <a:spcAft>
                <a:spcPts val="800"/>
              </a:spcAft>
              <a:defRPr sz="1700"/>
            </a:pPr>
            <a:r>
              <a:t>✈️ Aviation Industry: Understanding operational patterns and delay causes</a:t>
            </a:r>
          </a:p>
          <a:p>
            <a:pPr>
              <a:spcAft>
                <a:spcPts val="800"/>
              </a:spcAft>
              <a:defRPr sz="1700"/>
            </a:pPr>
            <a:r>
              <a:t>💼 Business Intelligence: Creating insights from large operational datasets</a:t>
            </a:r>
          </a:p>
          <a:p>
            <a:pPr>
              <a:spcAft>
                <a:spcPts val="800"/>
              </a:spcAft>
              <a:defRPr sz="1700"/>
            </a:pPr>
            <a:r>
              <a:t>📊 Dashboard Development: Building interactive analytical applications</a:t>
            </a:r>
          </a:p>
          <a:p>
            <a:pPr>
              <a:spcAft>
                <a:spcPts val="800"/>
              </a:spcAft>
              <a:defRPr sz="1700"/>
            </a:pPr>
            <a:r>
              <a:t>📈 Statistical Analysis: Applying advanced analytics to real-world data</a:t>
            </a:r>
          </a:p>
          <a:p>
            <a:pPr>
              <a:spcAft>
                <a:spcPts val="800"/>
              </a:spcAft>
              <a:defRPr sz="1700"/>
            </a:pPr>
            <a:r>
              <a:t>🤖 ML Preparation: Feature-engineered dataset ready for predictive modeling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Roadmap for Expansion</a:t>
            </a:r>
          </a:p>
          <a:p>
            <a:pPr lvl="1">
              <a:defRPr sz="1700"/>
            </a:pPr>
            <a:r>
              <a:t>Machine Learning Models - Predict flight delays using engineered features</a:t>
            </a:r>
          </a:p>
          <a:p>
            <a:pPr lvl="1">
              <a:defRPr sz="1700"/>
            </a:pPr>
            <a:r>
              <a:t>Real-time Integration - Live flight tracking and delay prediction</a:t>
            </a:r>
          </a:p>
          <a:p>
            <a:pPr lvl="1">
              <a:defRPr sz="1700"/>
            </a:pPr>
            <a:r>
              <a:t>Advanced Analytics - Clustering, anomaly detection, pattern mining</a:t>
            </a:r>
          </a:p>
          <a:p>
            <a:pPr lvl="1">
              <a:defRPr sz="1700"/>
            </a:pPr>
            <a:r>
              <a:t>Mobile Dashboard - Responsive design for mobile devices</a:t>
            </a:r>
          </a:p>
          <a:p>
            <a:pPr lvl="1">
              <a:defRPr sz="1700"/>
            </a:pPr>
            <a:r>
              <a:t>API Development - RESTful API for programmatic data access</a:t>
            </a:r>
          </a:p>
          <a:p>
            <a:pPr lvl="1">
              <a:defRPr sz="1700"/>
            </a:pPr>
            <a:r>
              <a:t>Automated Reporting - Scheduled report generation and distribution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1">
                <a:solidFill>
                  <a:srgbClr val="009900"/>
                </a:solidFill>
              </a:defRPr>
            </a:pPr>
            <a:r>
              <a:t>✅ Comprehensive Jupyter Notebook</a:t>
            </a:r>
          </a:p>
          <a:p>
            <a:pPr lvl="1">
              <a:defRPr sz="1400"/>
            </a:pPr>
            <a:r>
              <a:t>57 cells with complete analysis workflow</a:t>
            </a:r>
          </a:p>
          <a:p>
            <a:pPr>
              <a:defRPr sz="1800" b="1">
                <a:solidFill>
                  <a:srgbClr val="009900"/>
                </a:solidFill>
              </a:defRPr>
            </a:pPr>
            <a:r>
              <a:t>✅ Interactive Dashboard</a:t>
            </a:r>
          </a:p>
          <a:p>
            <a:pPr lvl="1">
              <a:defRPr sz="1400"/>
            </a:pPr>
            <a:r>
              <a:t>Streamlit web application with multiple pages</a:t>
            </a:r>
          </a:p>
          <a:p>
            <a:pPr>
              <a:defRPr sz="1800" b="1">
                <a:solidFill>
                  <a:srgbClr val="009900"/>
                </a:solidFill>
              </a:defRPr>
            </a:pPr>
            <a:r>
              <a:t>✅ Geographic Visualizations</a:t>
            </a:r>
          </a:p>
          <a:p>
            <a:pPr lvl="1">
              <a:defRPr sz="1400"/>
            </a:pPr>
            <a:r>
              <a:t>3 interactive HTML maps</a:t>
            </a:r>
          </a:p>
          <a:p>
            <a:pPr>
              <a:defRPr sz="1800" b="1">
                <a:solidFill>
                  <a:srgbClr val="009900"/>
                </a:solidFill>
              </a:defRPr>
            </a:pPr>
            <a:r>
              <a:t>✅ Processed Dataset</a:t>
            </a:r>
          </a:p>
          <a:p>
            <a:pPr lvl="1">
              <a:defRPr sz="1400"/>
            </a:pPr>
            <a:r>
              <a:t>Feature-engineered data ready for analysis</a:t>
            </a:r>
          </a:p>
          <a:p>
            <a:pPr>
              <a:defRPr sz="1800" b="1">
                <a:solidFill>
                  <a:srgbClr val="009900"/>
                </a:solidFill>
              </a:defRPr>
            </a:pPr>
            <a:r>
              <a:t>✅ Complete Documentation</a:t>
            </a:r>
          </a:p>
          <a:p>
            <a:pPr lvl="1">
              <a:defRPr sz="1400"/>
            </a:pPr>
            <a:r>
              <a:t>7 detailed documentation files</a:t>
            </a:r>
          </a:p>
          <a:p>
            <a:pPr>
              <a:defRPr sz="1800" b="1">
                <a:solidFill>
                  <a:srgbClr val="009900"/>
                </a:solidFill>
              </a:defRPr>
            </a:pPr>
            <a:r>
              <a:t>✅ Test Suite</a:t>
            </a:r>
          </a:p>
          <a:p>
            <a:pPr lvl="1">
              <a:defRPr sz="1400"/>
            </a:pPr>
            <a:r>
              <a:t>Comprehensive testing framework</a:t>
            </a:r>
          </a:p>
          <a:p>
            <a:pPr>
              <a:defRPr sz="1800" b="1">
                <a:solidFill>
                  <a:srgbClr val="009900"/>
                </a:solidFill>
              </a:defRPr>
            </a:pPr>
            <a:r>
              <a:t>✅ Project Presentation</a:t>
            </a:r>
          </a:p>
          <a:p>
            <a:pPr lvl="1">
              <a:defRPr sz="1400"/>
            </a:pPr>
            <a:r>
              <a:t>PowerPoint slides and materials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AirFly Insights demonstrates:</a:t>
            </a:r>
          </a:p>
          <a:p>
            <a:pPr>
              <a:spcBef>
                <a:spcPts val="1000"/>
              </a:spcBef>
              <a:defRPr sz="1800"/>
            </a:pPr>
            <a:r>
              <a:t>• Comprehensive analysis of 5.8 million flight records</a:t>
            </a:r>
          </a:p>
          <a:p>
            <a:pPr>
              <a:spcBef>
                <a:spcPts val="1000"/>
              </a:spcBef>
              <a:defRPr sz="1800"/>
            </a:pPr>
            <a:r>
              <a:t>• Advanced feature engineering and data processing</a:t>
            </a:r>
          </a:p>
          <a:p>
            <a:pPr>
              <a:spcBef>
                <a:spcPts val="1000"/>
              </a:spcBef>
              <a:defRPr sz="1800"/>
            </a:pPr>
            <a:r>
              <a:t>• Interactive visualizations and dashboard development</a:t>
            </a:r>
          </a:p>
          <a:p>
            <a:pPr>
              <a:spcBef>
                <a:spcPts val="1000"/>
              </a:spcBef>
              <a:defRPr sz="1800"/>
            </a:pPr>
            <a:r>
              <a:t>• Actionable insights for aviation industry stakeholders</a:t>
            </a:r>
          </a:p>
          <a:p>
            <a:pPr>
              <a:spcBef>
                <a:spcPts val="1000"/>
              </a:spcBef>
              <a:defRPr sz="1800"/>
            </a:pPr>
            <a:r>
              <a:t>• Scalable architecture for large-scale data analytics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3366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36699"/>
                </a:solidFill>
              </a:defRPr>
            </a:pPr>
            <a:r>
              <a:t>AirFly Insights</a:t>
            </a:r>
          </a:p>
          <a:p>
            <a:pPr algn="ctr">
              <a:defRPr sz="2000" i="1">
                <a:solidFill>
                  <a:srgbClr val="666666"/>
                </a:solidFill>
              </a:defRPr>
            </a:pPr>
            <a:r>
              <a:t>Comprehensive Flight Delay Analysis</a:t>
            </a:r>
          </a:p>
          <a:p>
            <a:pPr algn="ctr">
              <a:defRPr sz="1600">
                <a:solidFill>
                  <a:srgbClr val="999999"/>
                </a:solidFill>
              </a:defRPr>
            </a:pPr>
            <a:r>
              <a:t>December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